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32DDC1-41C2-4140-BBE3-966D79A11E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691FE7-071A-4EAE-A407-911AE41134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099B89-D2A0-48B4-A5E9-66B566BE31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AA8F55-66BE-4080-B78B-0312FDC837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31A365-EF39-468C-9D76-22EBDFCF47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97CC62-F622-4445-BA4C-287227DFD4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9B9B4F-007E-442B-BC80-A9496D8AF7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380061-7C0E-48D8-946E-61E5A875BF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D06815-32B9-49F5-9490-4BA7D7A3F4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1A5343-B4C5-49FF-AC9D-1F24D10724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C2CFB1-A5C9-479F-87F7-492F74B97D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371600" y="13716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XSS Attack Detection Using Machine Learning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371600" y="292608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Cross-Site Scripting Detection with Random Forest, XGBoost &amp; Logistic Regression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371600" y="4114800"/>
            <a:ext cx="9143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1600200" y="434340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Mohammad Ibrahim  ·  Omar Adel  ·  Mohamed Ahmed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1371600" y="4953960"/>
            <a:ext cx="91436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University of East London  |  Dr. Wael El Sersy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1371600" y="6035040"/>
            <a:ext cx="9143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731520" y="36576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Agenda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1371600" y="1280160"/>
            <a:ext cx="9143640" cy="42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  Problem Introduction What is XSS?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  Related Work &amp; Literature Review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3.  Dataset Overview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4.  Methodology &amp; System Architecture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5.  Data Preprocessing Pipeline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6.  Feature Analysis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7.  Model Selection &amp; Training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8.  Results &amp; Performance Comparison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9.  Live Demo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10. Challenges &amp; Solutions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11. Conclusion &amp; Future Work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12. Q &amp; 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731520" y="36576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What is Cross-Site Scripting (XSS)?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914400" y="1188720"/>
            <a:ext cx="10058040" cy="40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XSS is a code injection vulnerability where attackers insert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malicious scripts into trusted web pages viewed by other users.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Ranked #7 in the OWASP Top 10 (2021) critical security risks.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Impact of successful XSS attacks: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Session hijacking  stealing authentication cookies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Data exfiltration  capturing passwords and credit cards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Phishing  redirecting users to fraudulent sites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Malware distribution  serving drive-by downloads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Three main types: Stored, Reflected, and DOM-based XSS.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731520" y="36576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Why Machine Learning?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914400" y="1188720"/>
            <a:ext cx="10058040" cy="33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Traditional WAFs use rule-based pattern matching: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- High false-positive rates on JS-heavy pages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- Cannot detect obfuscated or zero-day payloads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- Require continuous manual signature updates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Machine Learning advantages: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Wingdings" charset="2"/>
              <a:buChar char=""/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Learns complex, non-linear decision boundaries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Wingdings" charset="2"/>
              <a:buChar char=""/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Detects novel attack variants without explicit rules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Wingdings" charset="2"/>
              <a:buChar char=""/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Adapts to evolving attack patterns with retraining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Wingdings" charset="2"/>
              <a:buChar char=""/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Provides probability scores for risk assessment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731520" y="36576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Related Work &amp; Literature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914400" y="1188720"/>
            <a:ext cx="10058040" cy="28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Likarish et al. (2009)  SVM/NB on HTTP parameters --&gt; 92% acc.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Wang et al. (2018)  CNN on character sequences --&gt; 99.2% acc.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Mokbal et al. (2019)  MLP with 42 dynamic features --&gt; 99.0% acc.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Mokbal et al. (2021)  XGBoost + IG-SBS feature selection --&gt; 99.4% acc.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Fang et al. (2018)  LSTM for sequential XSS patterns --&gt; 98.2% acc.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Zhou &amp; Wang (2019)  RF ensemble with HTML/JS/URL --&gt; 98.8% acc.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Our contribution: Systematic comparison of RF, XGBoost, and LR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on the same 138K-sample dataset with 66 optimally selected features.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731520" y="36576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Dataset Overview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914400" y="1188720"/>
            <a:ext cx="5943240" cy="32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Source: Mokbal et al. github.com/fawaz2015/XSS-dataset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Total samples: 138,567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Normal : 99,999  (72.1%)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XSS Attack: 38,568  (27.9%)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Features: 66 pre-selected via IG-SBS from 167 original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Feature categories: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URL features (11)  URL structure and content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HTML features (38)  DOM tags, attributes, event handlers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JavaScript features (17)  API calls, code complexity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All features are integer-valued counts.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Picture 3" descr="01_class_distribution.png"/>
          <p:cNvPicPr/>
          <p:nvPr/>
        </p:nvPicPr>
        <p:blipFill>
          <a:blip r:embed="rId1"/>
          <a:stretch/>
        </p:blipFill>
        <p:spPr>
          <a:xfrm>
            <a:off x="7315200" y="1371600"/>
            <a:ext cx="4388760" cy="365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731520" y="36576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System Architecture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914400" y="1188720"/>
            <a:ext cx="10058040" cy="41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End-to-end ML pipeline: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Raw CSV  ---&gt;  Preprocessing  --&gt;  Feature Scaling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                                   ↓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Evaluation  &lt;--  Training (CV)  &lt;--  Train/Val/Test Split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   ↓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Streamlit Demo App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Key design decisions: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Stratified 70/15/15 split preserving class distribution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StandardScaler fitted on train only (no data leakage)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5-fold stratified cross-validation for robust estimation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All config centralised in config.yaml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731520" y="36576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Data Preprocessing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914400" y="1188720"/>
            <a:ext cx="100580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 Load CSV with 66 named features + class label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 Remove duplicate rows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3. Impute missing values with column medians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4. Stratified train/validation/test split (70/15/15)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5. StandardScaler normalisation (zero mean, unit variance)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6. Save processed arrays + scaler to data/processed/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Split sizes: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Training: ~96,997 samples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Validation: ~20,785 samples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Test: ~20,785 samples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731520" y="36576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Feature Analysis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" name="Picture 2" descr="02_correlation_heatmap.png"/>
          <p:cNvPicPr/>
          <p:nvPr/>
        </p:nvPicPr>
        <p:blipFill>
          <a:blip r:embed="rId1"/>
          <a:stretch/>
        </p:blipFill>
        <p:spPr>
          <a:xfrm>
            <a:off x="457200" y="1188720"/>
            <a:ext cx="5486040" cy="502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Picture 3" descr="03_feature_importance.png"/>
          <p:cNvPicPr/>
          <p:nvPr/>
        </p:nvPicPr>
        <p:blipFill>
          <a:blip r:embed="rId2"/>
          <a:stretch/>
        </p:blipFill>
        <p:spPr>
          <a:xfrm>
            <a:off x="6217920" y="1188720"/>
            <a:ext cx="5486040" cy="5028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731520" y="36576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Model Selection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914400" y="1188720"/>
            <a:ext cx="10058040" cy="41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Random Forest (primary model):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Ensemble of 200 decision trees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Robust to overfitting, interpretable feature importances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XGBoost (gradient boosting):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200 sequential boosted trees, learning rate 0.1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Used in original XGBXSS paper  enables direct comparison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Logistic Regression (baseline):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Linear model to quantify gains from non-linear approaches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Tests whether features are linearly separable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All trained with 5-fold stratified cross-validation.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731520" y="365760"/>
            <a:ext cx="914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Results Confusion Matrices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2" descr="04_confusion_matrix_random_forest.png"/>
          <p:cNvPicPr/>
          <p:nvPr/>
        </p:nvPicPr>
        <p:blipFill>
          <a:blip r:embed="rId1"/>
          <a:stretch/>
        </p:blipFill>
        <p:spPr>
          <a:xfrm>
            <a:off x="274320" y="1188720"/>
            <a:ext cx="3748680" cy="347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Picture 3" descr="05_confusion_matrix_xgboost.png"/>
          <p:cNvPicPr/>
          <p:nvPr/>
        </p:nvPicPr>
        <p:blipFill>
          <a:blip r:embed="rId2"/>
          <a:stretch/>
        </p:blipFill>
        <p:spPr>
          <a:xfrm>
            <a:off x="4206240" y="1188720"/>
            <a:ext cx="3748680" cy="347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4" descr="06_confusion_matrix_logistic_regression.png"/>
          <p:cNvPicPr/>
          <p:nvPr/>
        </p:nvPicPr>
        <p:blipFill>
          <a:blip r:embed="rId3"/>
          <a:stretch/>
        </p:blipFill>
        <p:spPr>
          <a:xfrm>
            <a:off x="8138160" y="1188720"/>
            <a:ext cx="3748680" cy="347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731520" y="365760"/>
            <a:ext cx="914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Results ROC and PR Curves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" name="Picture 2" descr="06_roc_curves_comparison.png"/>
          <p:cNvPicPr/>
          <p:nvPr/>
        </p:nvPicPr>
        <p:blipFill>
          <a:blip r:embed="rId1"/>
          <a:stretch/>
        </p:blipFill>
        <p:spPr>
          <a:xfrm>
            <a:off x="457200" y="1188720"/>
            <a:ext cx="5486040" cy="502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Picture 3" descr="07_precision_recall_curves.png"/>
          <p:cNvPicPr/>
          <p:nvPr/>
        </p:nvPicPr>
        <p:blipFill>
          <a:blip r:embed="rId2"/>
          <a:stretch/>
        </p:blipFill>
        <p:spPr>
          <a:xfrm>
            <a:off x="6217920" y="1188720"/>
            <a:ext cx="5486040" cy="5028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731520" y="365760"/>
            <a:ext cx="914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Results :Model Comparison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" name="Picture 2" descr="08_model_comparison.png"/>
          <p:cNvPicPr/>
          <p:nvPr/>
        </p:nvPicPr>
        <p:blipFill>
          <a:blip r:embed="rId1"/>
          <a:stretch/>
        </p:blipFill>
        <p:spPr>
          <a:xfrm>
            <a:off x="457200" y="1188720"/>
            <a:ext cx="5486040" cy="502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Picture 3" descr="09_cv_boxplots.png"/>
          <p:cNvPicPr/>
          <p:nvPr/>
        </p:nvPicPr>
        <p:blipFill>
          <a:blip r:embed="rId2"/>
          <a:stretch/>
        </p:blipFill>
        <p:spPr>
          <a:xfrm>
            <a:off x="6217920" y="1188720"/>
            <a:ext cx="5486040" cy="5028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731520" y="36576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Feature Group Importance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731520" y="1188720"/>
            <a:ext cx="5028840" cy="21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Feature groups ranked by contribution to detection: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Which signal source matters most for XSS detection?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HTML features  DOM structure and event handlers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JavaScript features  API calls and code patterns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URL features  URL structure and embedded payloads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" name="Picture 3" descr="10_feature_group_analysis.png"/>
          <p:cNvPicPr/>
          <p:nvPr/>
        </p:nvPicPr>
        <p:blipFill>
          <a:blip r:embed="rId1"/>
          <a:stretch/>
        </p:blipFill>
        <p:spPr>
          <a:xfrm>
            <a:off x="6400800" y="1188720"/>
            <a:ext cx="530316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731520" y="36576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Live Demo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914400" y="1188720"/>
            <a:ext cx="10058040" cy="37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Interactive Streamlit web application: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Sample Predictions 10 random test cases with labels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Model Performance metrics dashboard with all figures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Manual Input  enter feature values for real-time prediction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Launch command: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streamlit run demo/app.py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demo loads trained models from models/ directory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and shows predictions with confidence scores.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/>
          <p:nvPr/>
        </p:nvSpPr>
        <p:spPr>
          <a:xfrm>
            <a:off x="731520" y="365760"/>
            <a:ext cx="914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Challenges and Solutions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914400" y="1188720"/>
            <a:ext cx="10058040" cy="35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Challenge 1: Class imbalance (72% vs 28%)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--&gt; Used stratified splitting and F1-score evaluation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Challenge 2: High-dimensional feature space (66 features)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--&gt; Leveraged pre-selected IG-SBS features; analysed correlations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Challenge 3: Ensuring reproducibility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--&gt; Fixed random seeds, centralised config, persisted all artefacts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Challenge 4: Preventing data leakage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--&gt; Scaler fitted on training set only; strict split boundaries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/>
          <p:nvPr/>
        </p:nvSpPr>
        <p:spPr>
          <a:xfrm>
            <a:off x="731520" y="365760"/>
            <a:ext cx="914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Conclusion and Future Work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914400" y="1188720"/>
            <a:ext cx="100580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Conclusions: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Ensemble methods (RF, XGBoost) outperform linear baseline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Feature importance aligns with known XSS attack patterns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66 pre-selected features are sufficient for high-accuracy detection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Fully reproducible pipeline: one command runs everything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Future work: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Deep learning (LSTM/Transformer) for raw payload analysis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Real-time feature extraction from live web traffic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Multi-class classification (Stored vs Reflected vs DOM XSS)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Adversarial robustness testing and defence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Integration with WAF systems (ModSecurity plugin)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1371600" y="2286000"/>
            <a:ext cx="914364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Any Questions?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1371600" y="3840480"/>
            <a:ext cx="91436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1371600" y="4009320"/>
            <a:ext cx="91436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    Mohammad Ibrahim · Omar Adel · Mohamed Ahmed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1371600" y="5394960"/>
            <a:ext cx="914364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University of East London  |  Dr. Wael El Sersy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LibreOffice/26.2.2.2$Linux_X86_64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2026-04-21T23:21:52Z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