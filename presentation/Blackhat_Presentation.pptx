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XSS Attack Detection Using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Cross-Site Scripting Detection with Random Forest, XGBoost &amp; Logistic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B4D8"/>
                </a:solidFill>
                <a:latin typeface="Calibri"/>
              </a:defRPr>
            </a:pPr>
            <a:r>
              <a:t>Team Blackhat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Mohammad Ibrahim  ·  Omar Adel  ·  Mohamed Ahmed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t>University of East London  |  Level 4 Primers  |  Dr. Wael El Sersy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4D8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280160"/>
            <a:ext cx="9144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1.  Problem Introduction — What is XSS?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2.  Related Work &amp; Literature Review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3.  Dataset Overview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4.  Methodology &amp; System Architecture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5.  Data Preprocessing Pipeline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6.  Feature Analysis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7.  Model Selection &amp; Training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8.  Results &amp; Performance Comparison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9.  Live Demo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10. Challenges &amp; Solutions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11. Conclusion &amp; Future Work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12. Q &amp; 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4D8"/>
                </a:solidFill>
                <a:latin typeface="Calibri"/>
              </a:defRPr>
            </a:pPr>
            <a:r>
              <a:t>What is Cross-Site Scripting (XSS)?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XSS is a code injection vulnerability where attackers insert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malicious scripts into trusted web pages viewed by other users.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Ranked #7 in the OWASP Top 10 (2021) critical security risks.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Impact of successful XSS attacks: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• Session hijacking — stealing authentication cookies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• Data exfiltration — capturing passwords and credit cards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• Phishing — redirecting users to fraudulent sites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• Malware distribution — serving drive-by downloads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Three main types: Stored, Reflected, and DOM-based XSS.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4D8"/>
                </a:solidFill>
                <a:latin typeface="Calibri"/>
              </a:defRPr>
            </a:pPr>
            <a:r>
              <a:t>Why Machine Learning?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Traditional WAFs use rule-based pattern matching: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✗ High false-positive rates on JS-heavy pages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✗ Cannot detect obfuscated or zero-day payloads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✗ Require continuous manual signature updates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Machine Learning advantages: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✓ Learns complex, non-linear decision boundaries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✓ Detects novel attack variants without explicit rules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✓ Adapts to evolving attack patterns with retraining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✓ Provides probability scores for risk assessment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4D8"/>
                </a:solidFill>
                <a:latin typeface="Calibri"/>
              </a:defRPr>
            </a:pPr>
            <a:r>
              <a:t>Related Work &amp; Literature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Likarish et al. (2009) — SVM/NB on HTTP parameters → 92% acc.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Wang et al. (2018) — CNN on character sequences → 99.2% acc.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Mokbal et al. (2019) — MLP with 42 dynamic features → 99.0% acc.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Mokbal et al. (2021) — XGBoost + IG-SBS feature selection → 99.4% acc.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Fang et al. (2018) — LSTM for sequential XSS patterns → 98.2% acc.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Zhou &amp; Wang (2019) — RF ensemble with HTML/JS/URL → 98.8% acc.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Our contribution: Systematic comparison of RF, XGBoost, and LR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on the same 138K-sample dataset with 66 optimally selected features.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4D8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Source: Mokbal et al. — github.com/fawaz2015/XSS-dataset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Total samples: 138,567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Normal (Benign): 99,999  (72.1%)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XSS Attack: 38,568  (27.9%)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Features: 66 pre-selected via IG-SBS from 167 original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Feature categories: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URL features (11) — URL structure and content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HTML features (38) — DOM tags, attributes, event handlers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JavaScript features (17) — API calls, code complexity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All features are integer-valued counts.</a:t>
            </a:r>
          </a:p>
        </p:txBody>
      </p:sp>
      <p:pic>
        <p:nvPicPr>
          <p:cNvPr id="4" name="Picture 3" descr="01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716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4D8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End-to-end ML pipeline: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Raw CSV  →  Preprocessing  →  Feature Scaling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                                     ↓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Evaluation  ←  Training (CV)  ←  Train/Val/Test Split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     ↓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Streamlit Demo App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Key design decisions: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Stratified 70/15/15 split preserving class distribution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StandardScaler fitted on train only (no data leakage)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5-fold stratified cross-validation for robust estimation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All config centralised in config.yaml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4D8"/>
                </a:solidFill>
                <a:latin typeface="Calibri"/>
              </a:defRPr>
            </a:pPr>
            <a:r>
              <a:t>Data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1. Load CSV with 66 named features + class label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2. Remove duplicate rows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3. Impute missing values with column medians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4. Stratified train/validation/test split (70/15/15)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5. StandardScaler normalisation (zero mean, unit variance)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6. Save processed arrays + scaler to data/processed/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Split sizes: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• Training: ~96,997 samples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• Validation: ~20,785 samples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• Test: ~20,785 samples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4D8"/>
                </a:solidFill>
                <a:latin typeface="Calibri"/>
              </a:defRPr>
            </a:pPr>
            <a:r>
              <a:t>Feature Analysis</a:t>
            </a:r>
          </a:p>
        </p:txBody>
      </p:sp>
      <p:pic>
        <p:nvPicPr>
          <p:cNvPr id="3" name="Picture 2" descr="02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486400" cy="5029200"/>
          </a:xfrm>
          <a:prstGeom prst="rect">
            <a:avLst/>
          </a:prstGeom>
        </p:spPr>
      </p:pic>
      <p:pic>
        <p:nvPicPr>
          <p:cNvPr id="4" name="Picture 3" descr="03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4D8"/>
                </a:solidFill>
                <a:latin typeface="Calibri"/>
              </a:defRPr>
            </a:pPr>
            <a:r>
              <a:t>Model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Random Forest (primary model):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Ensemble of 200 decision trees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Robust to overfitting, interpretable feature importances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XGBoost (gradient boosting):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200 sequential boosted trees, learning rate 0.1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Used in original XGBXSS paper — enables direct comparison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Logistic Regression (baseline):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Linear model to quantify gains from non-linear approaches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Tests whether features are linearly separable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All trained with 5-fold stratified cross-validation.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4D8"/>
                </a:solidFill>
                <a:latin typeface="Calibri"/>
              </a:defRPr>
            </a:pPr>
            <a:r>
              <a:t>Results — Confusion Matrices</a:t>
            </a:r>
          </a:p>
        </p:txBody>
      </p:sp>
      <p:pic>
        <p:nvPicPr>
          <p:cNvPr id="3" name="Picture 2" descr="04_confusion_matrix_random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3749039" cy="3474720"/>
          </a:xfrm>
          <a:prstGeom prst="rect">
            <a:avLst/>
          </a:prstGeom>
        </p:spPr>
      </p:pic>
      <p:pic>
        <p:nvPicPr>
          <p:cNvPr id="4" name="Picture 3" descr="05_confusion_matrix_xgbo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88720"/>
            <a:ext cx="3749039" cy="3474720"/>
          </a:xfrm>
          <a:prstGeom prst="rect">
            <a:avLst/>
          </a:prstGeom>
        </p:spPr>
      </p:pic>
      <p:pic>
        <p:nvPicPr>
          <p:cNvPr id="5" name="Picture 4" descr="06_confusion_matrix_logistic_regress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188720"/>
            <a:ext cx="3749039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4D8"/>
                </a:solidFill>
                <a:latin typeface="Calibri"/>
              </a:defRPr>
            </a:pPr>
            <a:r>
              <a:t>Results — ROC &amp; PR Curves</a:t>
            </a:r>
          </a:p>
        </p:txBody>
      </p:sp>
      <p:pic>
        <p:nvPicPr>
          <p:cNvPr id="3" name="Picture 2" descr="06_roc_curv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486400" cy="5029200"/>
          </a:xfrm>
          <a:prstGeom prst="rect">
            <a:avLst/>
          </a:prstGeom>
        </p:spPr>
      </p:pic>
      <p:pic>
        <p:nvPicPr>
          <p:cNvPr id="4" name="Picture 3" descr="07_precision_recall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4D8"/>
                </a:solidFill>
                <a:latin typeface="Calibri"/>
              </a:defRPr>
            </a:pPr>
            <a:r>
              <a:t>Results — Model Comparison</a:t>
            </a:r>
          </a:p>
        </p:txBody>
      </p:sp>
      <p:pic>
        <p:nvPicPr>
          <p:cNvPr id="3" name="Picture 2" descr="08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486400" cy="5029200"/>
          </a:xfrm>
          <a:prstGeom prst="rect">
            <a:avLst/>
          </a:prstGeom>
        </p:spPr>
      </p:pic>
      <p:pic>
        <p:nvPicPr>
          <p:cNvPr id="4" name="Picture 3" descr="09_cv_boxpl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4864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4D8"/>
                </a:solidFill>
                <a:latin typeface="Calibri"/>
              </a:defRPr>
            </a:pPr>
            <a:r>
              <a:t>Feature Group Importance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Feature groups ranked by contribution to detection: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Which signal source matters most for XSS detection?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HTML features — DOM structure and event handlers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JavaScript features — API calls and code patterns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URL features — URL structure and embedded payloads</a:t>
            </a:r>
          </a:p>
        </p:txBody>
      </p:sp>
      <p:pic>
        <p:nvPicPr>
          <p:cNvPr id="4" name="Picture 3" descr="10_feature_group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035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4D8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Interactive Streamlit web application: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• Sample Predictions — 10 random test cases with labels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• Model Performance — metrics dashboard with all figures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• Manual Input — enter feature values for real-time prediction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Launch command: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  streamlit run demo/app.py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The demo loads trained models from models/ directory</a:t>
            </a:r>
          </a:p>
          <a:p>
            <a:pPr>
              <a:spcAft>
                <a:spcPts val="6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and shows predictions with confidence scores.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4D8"/>
                </a:solidFill>
                <a:latin typeface="Calibri"/>
              </a:defRPr>
            </a:pPr>
            <a:r>
              <a:t>Challenges &amp;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Challenge 1: Class imbalance (72% vs 28%)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→ Used stratified splitting and F1-score evaluation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Challenge 2: High-dimensional feature space (66 features)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→ Leveraged pre-selected IG-SBS features; analysed correlations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Challenge 3: Ensuring reproducibility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→ Fixed random seeds, centralised config, persisted all artefacts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Challenge 4: Preventing data leakage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→ Scaler fitted on training set only; strict split boundaries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4D8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Conclusions: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Ensemble methods (RF, XGBoost) outperform linear baseline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Feature importance aligns with known XSS attack patterns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66 pre-selected features are sufficient for high-accuracy detection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Fully reproducible pipeline: one command runs everything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Future work: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Deep learning (LSTM/Transformer) for raw payload analysis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Real-time feature extraction from live web traffic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Multi-class classification (Stored vs Reflected vs DOM XSS)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Adversarial robustness testing and defence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• Integration with WAF systems (ModSecurity plugin)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Questions &amp;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  <a:latin typeface="Calibri"/>
              </a:defRPr>
            </a:pPr>
            <a:r>
              <a:t>Thank you for your attention!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46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B4D8"/>
                </a:solidFill>
                <a:latin typeface="Calibri"/>
              </a:defRPr>
            </a:pPr>
            <a:r>
              <a:t>Team Blackhat  —  Mohammad Ibrahim · Omar Adel · Mohamed Ahmed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394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University of East London  |  Level 4 Primers  |  Dr. Wael El Sersy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